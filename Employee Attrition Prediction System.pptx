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60" r:id="rId4"/>
    <p:sldId id="263" r:id="rId5"/>
    <p:sldId id="261" r:id="rId6"/>
    <p:sldId id="262" r:id="rId7"/>
    <p:sldId id="264" r:id="rId8"/>
    <p:sldId id="265" r:id="rId9"/>
    <p:sldId id="266" r:id="rId10"/>
    <p:sldId id="267" r:id="rId11"/>
    <p:sldId id="268" r:id="rId12"/>
    <p:sldId id="269" r:id="rId13"/>
    <p:sldId id="270" r:id="rId14"/>
    <p:sldId id="271" r:id="rId15"/>
    <p:sldId id="272"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5D0F116-0208-4E74-B087-D162286CF690}" type="datetimeFigureOut">
              <a:rPr lang="en-IN" smtClean="0"/>
              <a:t>10-05-2026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BD103990-C5B4-4BCF-BA51-1481AB238F2D}" type="slidenum">
              <a:rPr lang="en-IN" smtClean="0"/>
              <a:t>‹#›</a:t>
            </a:fld>
            <a:endParaRPr lang="en-IN"/>
          </a:p>
        </p:txBody>
      </p:sp>
    </p:spTree>
    <p:extLst>
      <p:ext uri="{BB962C8B-B14F-4D97-AF65-F5344CB8AC3E}">
        <p14:creationId xmlns:p14="http://schemas.microsoft.com/office/powerpoint/2010/main" val="2463144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D0F116-0208-4E74-B087-D162286CF690}" type="datetimeFigureOut">
              <a:rPr lang="en-IN" smtClean="0"/>
              <a:t>10-05-2026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D103990-C5B4-4BCF-BA51-1481AB238F2D}" type="slidenum">
              <a:rPr lang="en-IN" smtClean="0"/>
              <a:t>‹#›</a:t>
            </a:fld>
            <a:endParaRPr lang="en-IN"/>
          </a:p>
        </p:txBody>
      </p:sp>
    </p:spTree>
    <p:extLst>
      <p:ext uri="{BB962C8B-B14F-4D97-AF65-F5344CB8AC3E}">
        <p14:creationId xmlns:p14="http://schemas.microsoft.com/office/powerpoint/2010/main" val="327855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5D0F116-0208-4E74-B087-D162286CF690}" type="datetimeFigureOut">
              <a:rPr lang="en-IN" smtClean="0"/>
              <a:t>10-05-2026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D103990-C5B4-4BCF-BA51-1481AB238F2D}" type="slidenum">
              <a:rPr lang="en-IN" smtClean="0"/>
              <a:t>‹#›</a:t>
            </a:fld>
            <a:endParaRPr lang="en-IN"/>
          </a:p>
        </p:txBody>
      </p:sp>
    </p:spTree>
    <p:extLst>
      <p:ext uri="{BB962C8B-B14F-4D97-AF65-F5344CB8AC3E}">
        <p14:creationId xmlns:p14="http://schemas.microsoft.com/office/powerpoint/2010/main" val="36725602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5D0F116-0208-4E74-B087-D162286CF690}" type="datetimeFigureOut">
              <a:rPr lang="en-IN" smtClean="0"/>
              <a:t>10-05-2026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BD103990-C5B4-4BCF-BA51-1481AB238F2D}" type="slidenum">
              <a:rPr lang="en-IN" smtClean="0"/>
              <a:t>‹#›</a:t>
            </a:fld>
            <a:endParaRPr lang="en-IN"/>
          </a:p>
        </p:txBody>
      </p:sp>
    </p:spTree>
    <p:extLst>
      <p:ext uri="{BB962C8B-B14F-4D97-AF65-F5344CB8AC3E}">
        <p14:creationId xmlns:p14="http://schemas.microsoft.com/office/powerpoint/2010/main" val="3206132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5D0F116-0208-4E74-B087-D162286CF690}" type="datetimeFigureOut">
              <a:rPr lang="en-IN" smtClean="0"/>
              <a:t>10-05-2026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D103990-C5B4-4BCF-BA51-1481AB238F2D}" type="slidenum">
              <a:rPr lang="en-IN" smtClean="0"/>
              <a:t>‹#›</a:t>
            </a:fld>
            <a:endParaRPr lang="en-IN"/>
          </a:p>
        </p:txBody>
      </p:sp>
    </p:spTree>
    <p:extLst>
      <p:ext uri="{BB962C8B-B14F-4D97-AF65-F5344CB8AC3E}">
        <p14:creationId xmlns:p14="http://schemas.microsoft.com/office/powerpoint/2010/main" val="32124879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5D0F116-0208-4E74-B087-D162286CF690}" type="datetimeFigureOut">
              <a:rPr lang="en-IN" smtClean="0"/>
              <a:t>10-05-2026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D103990-C5B4-4BCF-BA51-1481AB238F2D}" type="slidenum">
              <a:rPr lang="en-IN" smtClean="0"/>
              <a:t>‹#›</a:t>
            </a:fld>
            <a:endParaRPr lang="en-IN"/>
          </a:p>
        </p:txBody>
      </p:sp>
    </p:spTree>
    <p:extLst>
      <p:ext uri="{BB962C8B-B14F-4D97-AF65-F5344CB8AC3E}">
        <p14:creationId xmlns:p14="http://schemas.microsoft.com/office/powerpoint/2010/main" val="30224456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5D0F116-0208-4E74-B087-D162286CF690}" type="datetimeFigureOut">
              <a:rPr lang="en-IN" smtClean="0"/>
              <a:t>10-05-2026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D103990-C5B4-4BCF-BA51-1481AB238F2D}" type="slidenum">
              <a:rPr lang="en-IN" smtClean="0"/>
              <a:t>‹#›</a:t>
            </a:fld>
            <a:endParaRPr lang="en-IN"/>
          </a:p>
        </p:txBody>
      </p:sp>
    </p:spTree>
    <p:extLst>
      <p:ext uri="{BB962C8B-B14F-4D97-AF65-F5344CB8AC3E}">
        <p14:creationId xmlns:p14="http://schemas.microsoft.com/office/powerpoint/2010/main" val="8086683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5D0F116-0208-4E74-B087-D162286CF690}" type="datetimeFigureOut">
              <a:rPr lang="en-IN" smtClean="0"/>
              <a:t>10-05-2026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D103990-C5B4-4BCF-BA51-1481AB238F2D}" type="slidenum">
              <a:rPr lang="en-IN" smtClean="0"/>
              <a:t>‹#›</a:t>
            </a:fld>
            <a:endParaRPr lang="en-IN"/>
          </a:p>
        </p:txBody>
      </p:sp>
    </p:spTree>
    <p:extLst>
      <p:ext uri="{BB962C8B-B14F-4D97-AF65-F5344CB8AC3E}">
        <p14:creationId xmlns:p14="http://schemas.microsoft.com/office/powerpoint/2010/main" val="1461459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5D0F116-0208-4E74-B087-D162286CF690}" type="datetimeFigureOut">
              <a:rPr lang="en-IN" smtClean="0"/>
              <a:t>10-05-2026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D103990-C5B4-4BCF-BA51-1481AB238F2D}" type="slidenum">
              <a:rPr lang="en-IN" smtClean="0"/>
              <a:t>‹#›</a:t>
            </a:fld>
            <a:endParaRPr lang="en-IN"/>
          </a:p>
        </p:txBody>
      </p:sp>
    </p:spTree>
    <p:extLst>
      <p:ext uri="{BB962C8B-B14F-4D97-AF65-F5344CB8AC3E}">
        <p14:creationId xmlns:p14="http://schemas.microsoft.com/office/powerpoint/2010/main" val="16794870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5D0F116-0208-4E74-B087-D162286CF690}" type="datetimeFigureOut">
              <a:rPr lang="en-IN" smtClean="0"/>
              <a:t>10-05-2026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D103990-C5B4-4BCF-BA51-1481AB238F2D}" type="slidenum">
              <a:rPr lang="en-IN" smtClean="0"/>
              <a:t>‹#›</a:t>
            </a:fld>
            <a:endParaRPr lang="en-IN"/>
          </a:p>
        </p:txBody>
      </p:sp>
    </p:spTree>
    <p:extLst>
      <p:ext uri="{BB962C8B-B14F-4D97-AF65-F5344CB8AC3E}">
        <p14:creationId xmlns:p14="http://schemas.microsoft.com/office/powerpoint/2010/main" val="112958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5D0F116-0208-4E74-B087-D162286CF690}" type="datetimeFigureOut">
              <a:rPr lang="en-IN" smtClean="0"/>
              <a:t>10-05-2026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D103990-C5B4-4BCF-BA51-1481AB238F2D}"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0180498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35D0F116-0208-4E74-B087-D162286CF690}" type="datetimeFigureOut">
              <a:rPr lang="en-IN" smtClean="0"/>
              <a:t>10-05-2026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D103990-C5B4-4BCF-BA51-1481AB238F2D}" type="slidenum">
              <a:rPr lang="en-IN" smtClean="0"/>
              <a:t>‹#›</a:t>
            </a:fld>
            <a:endParaRPr lang="en-IN"/>
          </a:p>
        </p:txBody>
      </p:sp>
    </p:spTree>
    <p:extLst>
      <p:ext uri="{BB962C8B-B14F-4D97-AF65-F5344CB8AC3E}">
        <p14:creationId xmlns:p14="http://schemas.microsoft.com/office/powerpoint/2010/main" val="39756303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35D0F116-0208-4E74-B087-D162286CF690}" type="datetimeFigureOut">
              <a:rPr lang="en-IN" smtClean="0"/>
              <a:t>10-05-2026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D103990-C5B4-4BCF-BA51-1481AB238F2D}"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9256391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35D0F116-0208-4E74-B087-D162286CF690}" type="datetimeFigureOut">
              <a:rPr lang="en-IN" smtClean="0"/>
              <a:t>10-05-2026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D103990-C5B4-4BCF-BA51-1481AB238F2D}" type="slidenum">
              <a:rPr lang="en-IN" smtClean="0"/>
              <a:t>‹#›</a:t>
            </a:fld>
            <a:endParaRPr lang="en-IN"/>
          </a:p>
        </p:txBody>
      </p:sp>
    </p:spTree>
    <p:extLst>
      <p:ext uri="{BB962C8B-B14F-4D97-AF65-F5344CB8AC3E}">
        <p14:creationId xmlns:p14="http://schemas.microsoft.com/office/powerpoint/2010/main" val="10410519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D0F116-0208-4E74-B087-D162286CF690}" type="datetimeFigureOut">
              <a:rPr lang="en-IN" smtClean="0"/>
              <a:t>10-05-2026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D103990-C5B4-4BCF-BA51-1481AB238F2D}" type="slidenum">
              <a:rPr lang="en-IN" smtClean="0"/>
              <a:t>‹#›</a:t>
            </a:fld>
            <a:endParaRPr lang="en-IN"/>
          </a:p>
        </p:txBody>
      </p:sp>
    </p:spTree>
    <p:extLst>
      <p:ext uri="{BB962C8B-B14F-4D97-AF65-F5344CB8AC3E}">
        <p14:creationId xmlns:p14="http://schemas.microsoft.com/office/powerpoint/2010/main" val="11799438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D0F116-0208-4E74-B087-D162286CF690}" type="datetimeFigureOut">
              <a:rPr lang="en-IN" smtClean="0"/>
              <a:t>10-05-2026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D103990-C5B4-4BCF-BA51-1481AB238F2D}" type="slidenum">
              <a:rPr lang="en-IN" smtClean="0"/>
              <a:t>‹#›</a:t>
            </a:fld>
            <a:endParaRPr lang="en-IN"/>
          </a:p>
        </p:txBody>
      </p:sp>
    </p:spTree>
    <p:extLst>
      <p:ext uri="{BB962C8B-B14F-4D97-AF65-F5344CB8AC3E}">
        <p14:creationId xmlns:p14="http://schemas.microsoft.com/office/powerpoint/2010/main" val="8224852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35D0F116-0208-4E74-B087-D162286CF690}" type="datetimeFigureOut">
              <a:rPr lang="en-IN" smtClean="0"/>
              <a:t>10-05-2026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BD103990-C5B4-4BCF-BA51-1481AB238F2D}" type="slidenum">
              <a:rPr lang="en-IN" smtClean="0"/>
              <a:t>‹#›</a:t>
            </a:fld>
            <a:endParaRPr lang="en-IN"/>
          </a:p>
        </p:txBody>
      </p:sp>
    </p:spTree>
    <p:extLst>
      <p:ext uri="{BB962C8B-B14F-4D97-AF65-F5344CB8AC3E}">
        <p14:creationId xmlns:p14="http://schemas.microsoft.com/office/powerpoint/2010/main" val="5038198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18B3F-FC07-460D-ACBC-CECA162A0694}"/>
              </a:ext>
            </a:extLst>
          </p:cNvPr>
          <p:cNvSpPr>
            <a:spLocks noGrp="1"/>
          </p:cNvSpPr>
          <p:nvPr>
            <p:ph type="ctrTitle"/>
          </p:nvPr>
        </p:nvSpPr>
        <p:spPr>
          <a:xfrm>
            <a:off x="1751012" y="3635078"/>
            <a:ext cx="9144000" cy="605528"/>
          </a:xfrm>
        </p:spPr>
        <p:txBody>
          <a:bodyPr>
            <a:normAutofit fontScale="90000"/>
          </a:bodyPr>
          <a:lstStyle/>
          <a:p>
            <a:r>
              <a:rPr lang="en-IN" b="1" dirty="0">
                <a:latin typeface="Times New Roman" panose="02020603050405020304" pitchFamily="18" charset="0"/>
                <a:cs typeface="Times New Roman" panose="02020603050405020304" pitchFamily="18" charset="0"/>
              </a:rPr>
              <a:t>Employee Attrition Prediction System</a:t>
            </a: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4FD3BF2E-9304-40CF-8494-C82C71EB2376}"/>
              </a:ext>
            </a:extLst>
          </p:cNvPr>
          <p:cNvSpPr>
            <a:spLocks noGrp="1"/>
          </p:cNvSpPr>
          <p:nvPr>
            <p:ph type="subTitle" idx="1"/>
          </p:nvPr>
        </p:nvSpPr>
        <p:spPr>
          <a:xfrm>
            <a:off x="1979613" y="3635078"/>
            <a:ext cx="8915399" cy="471698"/>
          </a:xfrm>
        </p:spPr>
        <p:txBody>
          <a:bodyPr>
            <a:normAutofit/>
          </a:bodyPr>
          <a:lstStyle/>
          <a:p>
            <a:r>
              <a:rPr lang="en-IN" b="1" dirty="0"/>
              <a:t>Leveraging Machine Learning for Data-Driven HR Retention</a:t>
            </a:r>
          </a:p>
          <a:p>
            <a:endParaRPr lang="en-IN" b="1" dirty="0"/>
          </a:p>
          <a:p>
            <a:endParaRPr lang="en-IN" dirty="0"/>
          </a:p>
        </p:txBody>
      </p:sp>
      <p:sp>
        <p:nvSpPr>
          <p:cNvPr id="4" name="TextBox 3">
            <a:extLst>
              <a:ext uri="{FF2B5EF4-FFF2-40B4-BE49-F238E27FC236}">
                <a16:creationId xmlns:a16="http://schemas.microsoft.com/office/drawing/2014/main" id="{44467923-43C5-42FC-8FF9-8F6838D94A73}"/>
              </a:ext>
            </a:extLst>
          </p:cNvPr>
          <p:cNvSpPr txBox="1"/>
          <p:nvPr/>
        </p:nvSpPr>
        <p:spPr>
          <a:xfrm>
            <a:off x="9064488" y="4481789"/>
            <a:ext cx="2228174" cy="1477328"/>
          </a:xfrm>
          <a:prstGeom prst="rect">
            <a:avLst/>
          </a:prstGeom>
          <a:noFill/>
        </p:spPr>
        <p:txBody>
          <a:bodyPr wrap="none" rtlCol="0">
            <a:spAutoFit/>
          </a:bodyPr>
          <a:lstStyle/>
          <a:p>
            <a:r>
              <a:rPr lang="en-IN" b="1" i="1" dirty="0">
                <a:latin typeface="Times New Roman" panose="02020603050405020304" pitchFamily="18" charset="0"/>
                <a:cs typeface="Times New Roman" panose="02020603050405020304" pitchFamily="18" charset="0"/>
              </a:rPr>
              <a:t>Team Members</a:t>
            </a:r>
          </a:p>
          <a:p>
            <a:r>
              <a:rPr lang="en-IN" dirty="0">
                <a:latin typeface="Times New Roman" panose="02020603050405020304" pitchFamily="18" charset="0"/>
                <a:cs typeface="Times New Roman" panose="02020603050405020304" pitchFamily="18" charset="0"/>
              </a:rPr>
              <a:t>Ayana Santhosh Khan</a:t>
            </a:r>
          </a:p>
          <a:p>
            <a:r>
              <a:rPr lang="en-IN" dirty="0" err="1">
                <a:latin typeface="Times New Roman" panose="02020603050405020304" pitchFamily="18" charset="0"/>
                <a:cs typeface="Times New Roman" panose="02020603050405020304" pitchFamily="18" charset="0"/>
              </a:rPr>
              <a:t>Hemalekshmi</a:t>
            </a:r>
            <a:r>
              <a:rPr lang="en-IN" dirty="0">
                <a:latin typeface="Times New Roman" panose="02020603050405020304" pitchFamily="18" charset="0"/>
                <a:cs typeface="Times New Roman" panose="02020603050405020304" pitchFamily="18" charset="0"/>
              </a:rPr>
              <a:t> R</a:t>
            </a:r>
          </a:p>
          <a:p>
            <a:r>
              <a:rPr lang="en-IN" dirty="0" err="1">
                <a:latin typeface="Times New Roman" panose="02020603050405020304" pitchFamily="18" charset="0"/>
                <a:cs typeface="Times New Roman" panose="02020603050405020304" pitchFamily="18" charset="0"/>
              </a:rPr>
              <a:t>Athulya</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Mannambath</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9139404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73FD2-599E-4595-AC83-78895D8A596F}"/>
              </a:ext>
            </a:extLst>
          </p:cNvPr>
          <p:cNvSpPr>
            <a:spLocks noGrp="1"/>
          </p:cNvSpPr>
          <p:nvPr>
            <p:ph type="title"/>
          </p:nvPr>
        </p:nvSpPr>
        <p:spPr>
          <a:xfrm>
            <a:off x="2460403" y="655230"/>
            <a:ext cx="8911687" cy="740863"/>
          </a:xfrm>
        </p:spPr>
        <p:txBody>
          <a:bodyPr>
            <a:normAutofit/>
          </a:bodyPr>
          <a:lstStyle/>
          <a:p>
            <a:r>
              <a:rPr lang="en-US" sz="3200" dirty="0">
                <a:latin typeface="Times New Roman" panose="02020603050405020304" pitchFamily="18" charset="0"/>
                <a:cs typeface="Times New Roman" panose="02020603050405020304" pitchFamily="18" charset="0"/>
              </a:rPr>
              <a:t>Problem Statement</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E27E2DC-E7F3-4C44-A633-E70C4D69FB67}"/>
              </a:ext>
            </a:extLst>
          </p:cNvPr>
          <p:cNvSpPr>
            <a:spLocks noGrp="1"/>
          </p:cNvSpPr>
          <p:nvPr>
            <p:ph idx="1"/>
          </p:nvPr>
        </p:nvSpPr>
        <p:spPr>
          <a:xfrm>
            <a:off x="2257907" y="1396845"/>
            <a:ext cx="8915400" cy="5162981"/>
          </a:xfrm>
        </p:spPr>
        <p:txBody>
          <a:bodyPr>
            <a:noAutofit/>
          </a:bodyPr>
          <a:lstStyle/>
          <a:p>
            <a:pPr marL="0" indent="0">
              <a:buNone/>
            </a:pPr>
            <a:r>
              <a:rPr lang="en-US" dirty="0">
                <a:latin typeface="Times New Roman" panose="02020603050405020304" pitchFamily="18" charset="0"/>
                <a:cs typeface="Times New Roman" panose="02020603050405020304" pitchFamily="18" charset="0"/>
              </a:rPr>
              <a:t>Employee turnover creates major organizational challenges. Traditional HR strategies are reactive rather than proactive. The goal is to build a predictive machine learning system that identifies employees at high risk of attrition before resignation </a:t>
            </a:r>
          </a:p>
          <a:p>
            <a:r>
              <a:rPr lang="en-US" b="1" dirty="0">
                <a:latin typeface="Times New Roman" panose="02020603050405020304" pitchFamily="18" charset="0"/>
                <a:cs typeface="Times New Roman" panose="02020603050405020304" pitchFamily="18" charset="0"/>
              </a:rPr>
              <a:t>Recruitment Costs</a:t>
            </a:r>
          </a:p>
          <a:p>
            <a:pPr marL="0" indent="0">
              <a:buNone/>
            </a:pPr>
            <a:r>
              <a:rPr lang="en-US" dirty="0">
                <a:latin typeface="Times New Roman" panose="02020603050405020304" pitchFamily="18" charset="0"/>
                <a:cs typeface="Times New Roman" panose="02020603050405020304" pitchFamily="18" charset="0"/>
              </a:rPr>
              <a:t>High expenses associated with sourcing, interviewing, and onboarding new hires.</a:t>
            </a:r>
          </a:p>
          <a:p>
            <a:r>
              <a:rPr lang="en-US" b="1" dirty="0">
                <a:latin typeface="Times New Roman" panose="02020603050405020304" pitchFamily="18" charset="0"/>
                <a:cs typeface="Times New Roman" panose="02020603050405020304" pitchFamily="18" charset="0"/>
              </a:rPr>
              <a:t>Training Expenses</a:t>
            </a:r>
          </a:p>
          <a:p>
            <a:pPr marL="0" indent="0">
              <a:buNone/>
            </a:pPr>
            <a:r>
              <a:rPr lang="en-US" dirty="0">
                <a:latin typeface="Times New Roman" panose="02020603050405020304" pitchFamily="18" charset="0"/>
                <a:cs typeface="Times New Roman" panose="02020603050405020304" pitchFamily="18" charset="0"/>
              </a:rPr>
              <a:t>Significant investment required to bring new employees up to full productivity.</a:t>
            </a:r>
          </a:p>
          <a:p>
            <a:r>
              <a:rPr lang="en-US" b="1" dirty="0">
                <a:latin typeface="Times New Roman" panose="02020603050405020304" pitchFamily="18" charset="0"/>
                <a:cs typeface="Times New Roman" panose="02020603050405020304" pitchFamily="18" charset="0"/>
              </a:rPr>
              <a:t>Productivity Loss</a:t>
            </a:r>
          </a:p>
          <a:p>
            <a:pPr marL="0" indent="0">
              <a:buNone/>
            </a:pPr>
            <a:r>
              <a:rPr lang="en-US" dirty="0">
                <a:latin typeface="Times New Roman" panose="02020603050405020304" pitchFamily="18" charset="0"/>
                <a:cs typeface="Times New Roman" panose="02020603050405020304" pitchFamily="18" charset="0"/>
              </a:rPr>
              <a:t>Team output and morale decline during transition periods and understaffing.</a:t>
            </a:r>
          </a:p>
          <a:p>
            <a:r>
              <a:rPr lang="en-US" b="1" dirty="0">
                <a:latin typeface="Times New Roman" panose="02020603050405020304" pitchFamily="18" charset="0"/>
                <a:cs typeface="Times New Roman" panose="02020603050405020304" pitchFamily="18" charset="0"/>
              </a:rPr>
              <a:t>Workforce Instability</a:t>
            </a:r>
          </a:p>
          <a:p>
            <a:pPr marL="0" indent="0">
              <a:buNone/>
            </a:pPr>
            <a:r>
              <a:rPr lang="en-US" dirty="0">
                <a:latin typeface="Times New Roman" panose="02020603050405020304" pitchFamily="18" charset="0"/>
                <a:cs typeface="Times New Roman" panose="02020603050405020304" pitchFamily="18" charset="0"/>
              </a:rPr>
              <a:t>Frequent departures disrupt operations, culture, and long-term planning.</a:t>
            </a:r>
          </a:p>
          <a:p>
            <a:r>
              <a:rPr lang="en-US" b="1" dirty="0">
                <a:latin typeface="Times New Roman" panose="02020603050405020304" pitchFamily="18" charset="0"/>
                <a:cs typeface="Times New Roman" panose="02020603050405020304" pitchFamily="18" charset="0"/>
              </a:rPr>
              <a:t>Key Transition:</a:t>
            </a:r>
            <a:r>
              <a:rPr lang="en-US" dirty="0">
                <a:latin typeface="Times New Roman" panose="02020603050405020304" pitchFamily="18" charset="0"/>
                <a:cs typeface="Times New Roman" panose="02020603050405020304" pitchFamily="18" charset="0"/>
              </a:rPr>
              <a:t> Moving from </a:t>
            </a:r>
            <a:r>
              <a:rPr lang="en-US" b="1" dirty="0">
                <a:latin typeface="Times New Roman" panose="02020603050405020304" pitchFamily="18" charset="0"/>
                <a:cs typeface="Times New Roman" panose="02020603050405020304" pitchFamily="18" charset="0"/>
              </a:rPr>
              <a:t>Reactive HR</a:t>
            </a:r>
            <a:r>
              <a:rPr lang="en-US" dirty="0">
                <a:latin typeface="Times New Roman" panose="02020603050405020304" pitchFamily="18" charset="0"/>
                <a:cs typeface="Times New Roman" panose="02020603050405020304" pitchFamily="18" charset="0"/>
              </a:rPr>
              <a:t> — responding after employees resign — to </a:t>
            </a:r>
            <a:r>
              <a:rPr lang="en-US" b="1" dirty="0">
                <a:latin typeface="Times New Roman" panose="02020603050405020304" pitchFamily="18" charset="0"/>
                <a:cs typeface="Times New Roman" panose="02020603050405020304" pitchFamily="18" charset="0"/>
              </a:rPr>
              <a:t>Predictive HR Analytics </a:t>
            </a:r>
            <a:r>
              <a:rPr lang="en-US" dirty="0">
                <a:latin typeface="Times New Roman" panose="02020603050405020304" pitchFamily="18" charset="0"/>
                <a:cs typeface="Times New Roman" panose="02020603050405020304" pitchFamily="18" charset="0"/>
              </a:rPr>
              <a:t>— identifying at-risk employees before they leave.</a:t>
            </a:r>
          </a:p>
          <a:p>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07498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56EE4-58F8-4125-AB3E-B1EF348C6396}"/>
              </a:ext>
            </a:extLst>
          </p:cNvPr>
          <p:cNvSpPr>
            <a:spLocks noGrp="1"/>
          </p:cNvSpPr>
          <p:nvPr>
            <p:ph type="title"/>
          </p:nvPr>
        </p:nvSpPr>
        <p:spPr>
          <a:xfrm>
            <a:off x="2592925" y="624110"/>
            <a:ext cx="8911687" cy="918087"/>
          </a:xfrm>
        </p:spPr>
        <p:txBody>
          <a:bodyPr/>
          <a:lstStyle/>
          <a:p>
            <a:r>
              <a:rPr lang="en-IN" b="1" dirty="0">
                <a:latin typeface="Times New Roman" panose="02020603050405020304" pitchFamily="18" charset="0"/>
                <a:cs typeface="Times New Roman" panose="02020603050405020304" pitchFamily="18" charset="0"/>
              </a:rPr>
              <a:t>Dataset Overview — IBM HR Analytics</a:t>
            </a:r>
            <a:endParaRPr lang="en-IN" dirty="0"/>
          </a:p>
        </p:txBody>
      </p:sp>
      <p:sp>
        <p:nvSpPr>
          <p:cNvPr id="3" name="Content Placeholder 2">
            <a:extLst>
              <a:ext uri="{FF2B5EF4-FFF2-40B4-BE49-F238E27FC236}">
                <a16:creationId xmlns:a16="http://schemas.microsoft.com/office/drawing/2014/main" id="{52F670F3-D32A-4B8B-A38D-848DD775B672}"/>
              </a:ext>
            </a:extLst>
          </p:cNvPr>
          <p:cNvSpPr>
            <a:spLocks noGrp="1"/>
          </p:cNvSpPr>
          <p:nvPr>
            <p:ph idx="1"/>
          </p:nvPr>
        </p:nvSpPr>
        <p:spPr>
          <a:xfrm>
            <a:off x="2239617" y="1656522"/>
            <a:ext cx="9268708" cy="4465981"/>
          </a:xfrm>
        </p:spPr>
        <p:txBody>
          <a:bodyPr>
            <a:normAutofit fontScale="25000" lnSpcReduction="20000"/>
          </a:bodyPr>
          <a:lstStyle/>
          <a:p>
            <a:pPr marL="0" indent="0">
              <a:buNone/>
            </a:pPr>
            <a:r>
              <a:rPr lang="en-IN" sz="6400" b="1" dirty="0">
                <a:latin typeface="Times New Roman" panose="02020603050405020304" pitchFamily="18" charset="0"/>
                <a:cs typeface="Times New Roman" panose="02020603050405020304" pitchFamily="18" charset="0"/>
              </a:rPr>
              <a:t>Dataset Statistics</a:t>
            </a:r>
          </a:p>
          <a:p>
            <a:r>
              <a:rPr lang="en-IN" sz="6400" b="1" dirty="0">
                <a:latin typeface="Times New Roman" panose="02020603050405020304" pitchFamily="18" charset="0"/>
                <a:cs typeface="Times New Roman" panose="02020603050405020304" pitchFamily="18" charset="0"/>
              </a:rPr>
              <a:t>Source:</a:t>
            </a:r>
            <a:r>
              <a:rPr lang="en-IN" sz="6400" dirty="0">
                <a:latin typeface="Times New Roman" panose="02020603050405020304" pitchFamily="18" charset="0"/>
                <a:cs typeface="Times New Roman" panose="02020603050405020304" pitchFamily="18" charset="0"/>
              </a:rPr>
              <a:t> IBM HR Analytics Attrition Dataset (Kaggle)</a:t>
            </a:r>
          </a:p>
          <a:p>
            <a:r>
              <a:rPr lang="en-IN" sz="6400" dirty="0">
                <a:latin typeface="Times New Roman" panose="02020603050405020304" pitchFamily="18" charset="0"/>
                <a:cs typeface="Times New Roman" panose="02020603050405020304" pitchFamily="18" charset="0"/>
              </a:rPr>
              <a:t>Total Employee Records : </a:t>
            </a:r>
            <a:r>
              <a:rPr lang="en-IN" sz="6400" b="1" dirty="0">
                <a:latin typeface="Times New Roman" panose="02020603050405020304" pitchFamily="18" charset="0"/>
                <a:cs typeface="Times New Roman" panose="02020603050405020304" pitchFamily="18" charset="0"/>
              </a:rPr>
              <a:t>1,470 </a:t>
            </a:r>
            <a:endParaRPr lang="en-IN" sz="6400" dirty="0">
              <a:latin typeface="Times New Roman" panose="02020603050405020304" pitchFamily="18" charset="0"/>
              <a:cs typeface="Times New Roman" panose="02020603050405020304" pitchFamily="18" charset="0"/>
            </a:endParaRPr>
          </a:p>
          <a:p>
            <a:r>
              <a:rPr lang="en-IN" sz="6400" dirty="0">
                <a:latin typeface="Times New Roman" panose="02020603050405020304" pitchFamily="18" charset="0"/>
                <a:cs typeface="Times New Roman" panose="02020603050405020304" pitchFamily="18" charset="0"/>
              </a:rPr>
              <a:t>HR-Related Features : </a:t>
            </a:r>
            <a:r>
              <a:rPr lang="en-IN" sz="6400" b="1" dirty="0">
                <a:latin typeface="Times New Roman" panose="02020603050405020304" pitchFamily="18" charset="0"/>
                <a:cs typeface="Times New Roman" panose="02020603050405020304" pitchFamily="18" charset="0"/>
              </a:rPr>
              <a:t>35</a:t>
            </a:r>
          </a:p>
          <a:p>
            <a:r>
              <a:rPr lang="en-US" sz="6400" b="1" dirty="0">
                <a:latin typeface="Times New Roman" panose="02020603050405020304" pitchFamily="18" charset="0"/>
                <a:cs typeface="Times New Roman" panose="02020603050405020304" pitchFamily="18" charset="0"/>
              </a:rPr>
              <a:t>Target: </a:t>
            </a:r>
            <a:r>
              <a:rPr lang="en-US" sz="6400" dirty="0">
                <a:latin typeface="Times New Roman" panose="02020603050405020304" pitchFamily="18" charset="0"/>
                <a:cs typeface="Times New Roman" panose="02020603050405020304" pitchFamily="18" charset="0"/>
              </a:rPr>
              <a:t>Attrition (0=No,1 = Yes</a:t>
            </a:r>
            <a:r>
              <a:rPr lang="en-IN" sz="6400" dirty="0">
                <a:latin typeface="Times New Roman" panose="02020603050405020304" pitchFamily="18" charset="0"/>
                <a:cs typeface="Times New Roman" panose="02020603050405020304" pitchFamily="18" charset="0"/>
              </a:rPr>
              <a:t>)</a:t>
            </a:r>
          </a:p>
          <a:p>
            <a:r>
              <a:rPr lang="en-US" sz="6400" dirty="0">
                <a:latin typeface="Times New Roman" panose="02020603050405020304" pitchFamily="18" charset="0"/>
                <a:cs typeface="Times New Roman" panose="02020603050405020304" pitchFamily="18" charset="0"/>
              </a:rPr>
              <a:t>C</a:t>
            </a:r>
            <a:r>
              <a:rPr lang="en-IN" sz="6400" dirty="0" err="1">
                <a:latin typeface="Times New Roman" panose="02020603050405020304" pitchFamily="18" charset="0"/>
                <a:cs typeface="Times New Roman" panose="02020603050405020304" pitchFamily="18" charset="0"/>
              </a:rPr>
              <a:t>hallenge</a:t>
            </a:r>
            <a:r>
              <a:rPr lang="en-IN" sz="6400" dirty="0">
                <a:latin typeface="Times New Roman" panose="02020603050405020304" pitchFamily="18" charset="0"/>
                <a:cs typeface="Times New Roman" panose="02020603050405020304" pitchFamily="18" charset="0"/>
              </a:rPr>
              <a:t> : Moderately imbalanced dataset (84% Retention vs 16% Attrition)</a:t>
            </a:r>
          </a:p>
          <a:p>
            <a:r>
              <a:rPr lang="en-US" sz="6400" b="1" dirty="0">
                <a:latin typeface="Times New Roman" panose="02020603050405020304" pitchFamily="18" charset="0"/>
                <a:cs typeface="Times New Roman" panose="02020603050405020304" pitchFamily="18" charset="0"/>
              </a:rPr>
              <a:t>Key Influential Features</a:t>
            </a:r>
          </a:p>
          <a:p>
            <a:pPr>
              <a:buFont typeface="Arial" panose="020B0604020202020204" pitchFamily="34" charset="0"/>
              <a:buChar char="•"/>
            </a:pPr>
            <a:r>
              <a:rPr lang="en-US" sz="6400" i="1" dirty="0">
                <a:latin typeface="Times New Roman" panose="02020603050405020304" pitchFamily="18" charset="0"/>
                <a:cs typeface="Times New Roman" panose="02020603050405020304" pitchFamily="18" charset="0"/>
              </a:rPr>
              <a:t>Overtime</a:t>
            </a:r>
          </a:p>
          <a:p>
            <a:pPr>
              <a:buFont typeface="Arial" panose="020B0604020202020204" pitchFamily="34" charset="0"/>
              <a:buChar char="•"/>
            </a:pPr>
            <a:r>
              <a:rPr lang="en-US" sz="6400" i="1" dirty="0">
                <a:latin typeface="Times New Roman" panose="02020603050405020304" pitchFamily="18" charset="0"/>
                <a:cs typeface="Times New Roman" panose="02020603050405020304" pitchFamily="18" charset="0"/>
              </a:rPr>
              <a:t>Monthly Income</a:t>
            </a:r>
          </a:p>
          <a:p>
            <a:pPr>
              <a:buFont typeface="Arial" panose="020B0604020202020204" pitchFamily="34" charset="0"/>
              <a:buChar char="•"/>
            </a:pPr>
            <a:r>
              <a:rPr lang="en-US" sz="6400" i="1" dirty="0">
                <a:latin typeface="Times New Roman" panose="02020603050405020304" pitchFamily="18" charset="0"/>
                <a:cs typeface="Times New Roman" panose="02020603050405020304" pitchFamily="18" charset="0"/>
              </a:rPr>
              <a:t>Job Level</a:t>
            </a:r>
          </a:p>
          <a:p>
            <a:pPr>
              <a:buFont typeface="Arial" panose="020B0604020202020204" pitchFamily="34" charset="0"/>
              <a:buChar char="•"/>
            </a:pPr>
            <a:r>
              <a:rPr lang="en-US" sz="6400" i="1" dirty="0">
                <a:latin typeface="Times New Roman" panose="02020603050405020304" pitchFamily="18" charset="0"/>
                <a:cs typeface="Times New Roman" panose="02020603050405020304" pitchFamily="18" charset="0"/>
              </a:rPr>
              <a:t>Years at Company</a:t>
            </a:r>
          </a:p>
          <a:p>
            <a:pPr>
              <a:buFont typeface="Arial" panose="020B0604020202020204" pitchFamily="34" charset="0"/>
              <a:buChar char="•"/>
            </a:pPr>
            <a:r>
              <a:rPr lang="en-US" sz="6400" i="1" dirty="0">
                <a:latin typeface="Times New Roman" panose="02020603050405020304" pitchFamily="18" charset="0"/>
                <a:cs typeface="Times New Roman" panose="02020603050405020304" pitchFamily="18" charset="0"/>
              </a:rPr>
              <a:t>Job Satisfaction</a:t>
            </a:r>
          </a:p>
          <a:p>
            <a:pPr>
              <a:buFont typeface="Arial" panose="020B0604020202020204" pitchFamily="34" charset="0"/>
              <a:buChar char="•"/>
            </a:pPr>
            <a:r>
              <a:rPr lang="en-US" sz="6400" i="1" dirty="0">
                <a:latin typeface="Times New Roman" panose="02020603050405020304" pitchFamily="18" charset="0"/>
                <a:cs typeface="Times New Roman" panose="02020603050405020304" pitchFamily="18" charset="0"/>
              </a:rPr>
              <a:t>Work-Life Balance</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98756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8B4A056-1696-4963-B40B-8F8CE33FD30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6311" y="1427651"/>
            <a:ext cx="4825848" cy="3785794"/>
          </a:xfrm>
        </p:spPr>
      </p:pic>
      <p:pic>
        <p:nvPicPr>
          <p:cNvPr id="7" name="Picture 6">
            <a:extLst>
              <a:ext uri="{FF2B5EF4-FFF2-40B4-BE49-F238E27FC236}">
                <a16:creationId xmlns:a16="http://schemas.microsoft.com/office/drawing/2014/main" id="{92EA7D5B-9239-4FE7-8BA2-80E56CFB2E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6276" y="1427651"/>
            <a:ext cx="6754212" cy="3676612"/>
          </a:xfrm>
          <a:prstGeom prst="rect">
            <a:avLst/>
          </a:prstGeom>
        </p:spPr>
      </p:pic>
    </p:spTree>
    <p:extLst>
      <p:ext uri="{BB962C8B-B14F-4D97-AF65-F5344CB8AC3E}">
        <p14:creationId xmlns:p14="http://schemas.microsoft.com/office/powerpoint/2010/main" val="1735093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E7905-1BFB-4986-B6DD-55895078C120}"/>
              </a:ext>
            </a:extLst>
          </p:cNvPr>
          <p:cNvSpPr>
            <a:spLocks noGrp="1"/>
          </p:cNvSpPr>
          <p:nvPr>
            <p:ph type="title"/>
          </p:nvPr>
        </p:nvSpPr>
        <p:spPr>
          <a:xfrm>
            <a:off x="2311058" y="647045"/>
            <a:ext cx="8911687" cy="694481"/>
          </a:xfrm>
        </p:spPr>
        <p:txBody>
          <a:bodyPr>
            <a:normAutofit fontScale="90000"/>
          </a:bodyPr>
          <a:lstStyle/>
          <a:p>
            <a:r>
              <a:rPr lang="en-US" b="1" dirty="0">
                <a:latin typeface="Times New Roman" panose="02020603050405020304" pitchFamily="18" charset="0"/>
                <a:cs typeface="Times New Roman" panose="02020603050405020304" pitchFamily="18" charset="0"/>
              </a:rPr>
              <a:t>Methodology &amp; Machine Learning Pipeline</a:t>
            </a:r>
            <a:br>
              <a:rPr lang="en-US"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C2A887-5C59-43C0-9365-1834E59C0E36}"/>
              </a:ext>
            </a:extLst>
          </p:cNvPr>
          <p:cNvSpPr>
            <a:spLocks noGrp="1"/>
          </p:cNvSpPr>
          <p:nvPr>
            <p:ph idx="1"/>
          </p:nvPr>
        </p:nvSpPr>
        <p:spPr>
          <a:xfrm>
            <a:off x="2307345" y="1330252"/>
            <a:ext cx="8915400" cy="3777622"/>
          </a:xfrm>
        </p:spPr>
        <p:txBody>
          <a:bodyPr/>
          <a:lstStyle/>
          <a:p>
            <a:pPr marL="0" indent="0">
              <a:buNone/>
            </a:pPr>
            <a:r>
              <a:rPr lang="en-US" dirty="0">
                <a:latin typeface="Times New Roman" panose="02020603050405020304" pitchFamily="18" charset="0"/>
                <a:cs typeface="Times New Roman" panose="02020603050405020304" pitchFamily="18" charset="0"/>
              </a:rPr>
              <a:t>The complete project lifecycle follows a structured ML workflow — from raw HR data collection through exploratory analysis, preprocessing, model training, evaluation, and final deployment via </a:t>
            </a:r>
            <a:r>
              <a:rPr lang="en-US" dirty="0" err="1">
                <a:latin typeface="Times New Roman" panose="02020603050405020304" pitchFamily="18" charset="0"/>
                <a:cs typeface="Times New Roman" panose="02020603050405020304" pitchFamily="18" charset="0"/>
              </a:rPr>
              <a:t>Streamlit</a:t>
            </a:r>
            <a:r>
              <a:rPr lang="en-US" dirty="0">
                <a:latin typeface="Times New Roman" panose="02020603050405020304" pitchFamily="18" charset="0"/>
                <a:cs typeface="Times New Roman" panose="02020603050405020304" pitchFamily="18" charset="0"/>
              </a:rPr>
              <a:t>. Technologies used include </a:t>
            </a:r>
            <a:r>
              <a:rPr lang="en-US" b="1" dirty="0">
                <a:latin typeface="Times New Roman" panose="02020603050405020304" pitchFamily="18" charset="0"/>
                <a:cs typeface="Times New Roman" panose="02020603050405020304" pitchFamily="18" charset="0"/>
              </a:rPr>
              <a:t>Python</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Pandas</a:t>
            </a:r>
            <a:r>
              <a:rPr lang="en-US"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Scikit</a:t>
            </a:r>
            <a:r>
              <a:rPr lang="en-US" b="1" dirty="0">
                <a:latin typeface="Times New Roman" panose="02020603050405020304" pitchFamily="18" charset="0"/>
                <a:cs typeface="Times New Roman" panose="02020603050405020304" pitchFamily="18" charset="0"/>
              </a:rPr>
              <a:t>-learn</a:t>
            </a:r>
            <a:r>
              <a:rPr lang="en-US"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and </a:t>
            </a:r>
            <a:r>
              <a:rPr lang="en-US" b="1" dirty="0" err="1">
                <a:latin typeface="Times New Roman" panose="02020603050405020304" pitchFamily="18" charset="0"/>
                <a:cs typeface="Times New Roman" panose="02020603050405020304" pitchFamily="18" charset="0"/>
              </a:rPr>
              <a:t>Streamlit</a:t>
            </a:r>
            <a:r>
              <a:rPr lang="en-US"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F756D4D-F2F5-4386-8D10-B0A08C1483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9148" y="2529444"/>
            <a:ext cx="8723776" cy="2998304"/>
          </a:xfrm>
          <a:prstGeom prst="rect">
            <a:avLst/>
          </a:prstGeom>
        </p:spPr>
      </p:pic>
      <p:sp>
        <p:nvSpPr>
          <p:cNvPr id="6" name="TextBox 5">
            <a:extLst>
              <a:ext uri="{FF2B5EF4-FFF2-40B4-BE49-F238E27FC236}">
                <a16:creationId xmlns:a16="http://schemas.microsoft.com/office/drawing/2014/main" id="{A7D705EA-69E7-40C1-A8A2-665FFB5CB50D}"/>
              </a:ext>
            </a:extLst>
          </p:cNvPr>
          <p:cNvSpPr txBox="1"/>
          <p:nvPr/>
        </p:nvSpPr>
        <p:spPr>
          <a:xfrm>
            <a:off x="2289148" y="5749290"/>
            <a:ext cx="9265401" cy="92333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Each stage builds on the previous, ensuring data quality, model reliability, and a production-ready deployment that HR teams can use in real time.</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50469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109C4-5535-4D1E-BE6E-3392E64D037E}"/>
              </a:ext>
            </a:extLst>
          </p:cNvPr>
          <p:cNvSpPr>
            <a:spLocks noGrp="1"/>
          </p:cNvSpPr>
          <p:nvPr>
            <p:ph type="title"/>
          </p:nvPr>
        </p:nvSpPr>
        <p:spPr>
          <a:xfrm>
            <a:off x="2009829" y="690371"/>
            <a:ext cx="8911687" cy="714360"/>
          </a:xfrm>
        </p:spPr>
        <p:txBody>
          <a:bodyPr>
            <a:normAutofit fontScale="90000"/>
          </a:bodyPr>
          <a:lstStyle/>
          <a:p>
            <a:r>
              <a:rPr lang="en-IN" b="1" dirty="0">
                <a:latin typeface="Times New Roman" panose="02020603050405020304" pitchFamily="18" charset="0"/>
                <a:cs typeface="Times New Roman" panose="02020603050405020304" pitchFamily="18" charset="0"/>
              </a:rPr>
              <a:t>Feature Engineering &amp; Statistical Selection</a:t>
            </a: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912567C-FD5A-43C8-8697-70B0188DFEB0}"/>
              </a:ext>
            </a:extLst>
          </p:cNvPr>
          <p:cNvSpPr>
            <a:spLocks noGrp="1"/>
          </p:cNvSpPr>
          <p:nvPr>
            <p:ph idx="1"/>
          </p:nvPr>
        </p:nvSpPr>
        <p:spPr>
          <a:xfrm>
            <a:off x="1873594" y="1404731"/>
            <a:ext cx="8915400" cy="1775791"/>
          </a:xfrm>
        </p:spPr>
        <p:txBody>
          <a:bodyPr/>
          <a:lstStyle/>
          <a:p>
            <a:r>
              <a:rPr lang="en-US" dirty="0">
                <a:latin typeface="Times New Roman" panose="02020603050405020304" pitchFamily="18" charset="0"/>
                <a:cs typeface="Times New Roman" panose="02020603050405020304" pitchFamily="18" charset="0"/>
              </a:rPr>
              <a:t>Statistical feature selection techniques were used to identify the most important predictors of employee attrition. The goal was to reduce dimensionality while retaining the most informative HR attributes for model training</a:t>
            </a:r>
            <a:r>
              <a:rPr lang="en-US" dirty="0"/>
              <a:t>.</a:t>
            </a:r>
          </a:p>
          <a:p>
            <a:r>
              <a:rPr lang="en-US" b="1" dirty="0">
                <a:latin typeface="Times New Roman" panose="02020603050405020304" pitchFamily="18" charset="0"/>
                <a:cs typeface="Times New Roman" panose="02020603050405020304" pitchFamily="18" charset="0"/>
              </a:rPr>
              <a:t>Chi-Square Test</a:t>
            </a:r>
          </a:p>
          <a:p>
            <a:r>
              <a:rPr lang="en-US" dirty="0">
                <a:latin typeface="Times New Roman" panose="02020603050405020304" pitchFamily="18" charset="0"/>
                <a:cs typeface="Times New Roman" panose="02020603050405020304" pitchFamily="18" charset="0"/>
              </a:rPr>
              <a:t>Used for categorical features to measure dependency between variables and attrition.</a:t>
            </a:r>
          </a:p>
          <a:p>
            <a:pPr marL="0" indent="0">
              <a:buNone/>
            </a:pPr>
            <a:endParaRPr lang="en-IN" dirty="0"/>
          </a:p>
        </p:txBody>
      </p:sp>
      <p:pic>
        <p:nvPicPr>
          <p:cNvPr id="5" name="Picture 4">
            <a:extLst>
              <a:ext uri="{FF2B5EF4-FFF2-40B4-BE49-F238E27FC236}">
                <a16:creationId xmlns:a16="http://schemas.microsoft.com/office/drawing/2014/main" id="{D1936989-281A-424F-B853-DB32BDA75D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53017" y="3180522"/>
            <a:ext cx="5845209" cy="3487031"/>
          </a:xfrm>
          <a:prstGeom prst="rect">
            <a:avLst/>
          </a:prstGeom>
        </p:spPr>
      </p:pic>
    </p:spTree>
    <p:extLst>
      <p:ext uri="{BB962C8B-B14F-4D97-AF65-F5344CB8AC3E}">
        <p14:creationId xmlns:p14="http://schemas.microsoft.com/office/powerpoint/2010/main" val="4644980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77859E-B1A6-4241-9DF4-B02EE49F30D0}"/>
              </a:ext>
            </a:extLst>
          </p:cNvPr>
          <p:cNvSpPr>
            <a:spLocks noGrp="1"/>
          </p:cNvSpPr>
          <p:nvPr>
            <p:ph idx="1"/>
          </p:nvPr>
        </p:nvSpPr>
        <p:spPr>
          <a:xfrm>
            <a:off x="2469943" y="821635"/>
            <a:ext cx="8915400" cy="3777622"/>
          </a:xfrm>
        </p:spPr>
        <p:txBody>
          <a:bodyPr/>
          <a:lstStyle/>
          <a:p>
            <a:r>
              <a:rPr lang="en-US" b="1" dirty="0">
                <a:latin typeface="Times New Roman" panose="02020603050405020304" pitchFamily="18" charset="0"/>
                <a:cs typeface="Times New Roman" panose="02020603050405020304" pitchFamily="18" charset="0"/>
              </a:rPr>
              <a:t>ANOVA F-Test</a:t>
            </a:r>
          </a:p>
          <a:p>
            <a:r>
              <a:rPr lang="en-US" dirty="0">
                <a:latin typeface="Times New Roman" panose="02020603050405020304" pitchFamily="18" charset="0"/>
                <a:cs typeface="Times New Roman" panose="02020603050405020304" pitchFamily="18" charset="0"/>
              </a:rPr>
              <a:t>Applied to numerical features to assess variance contribution to the target class</a:t>
            </a:r>
            <a:r>
              <a:rPr lang="en-US" dirty="0"/>
              <a:t>.</a:t>
            </a:r>
          </a:p>
          <a:p>
            <a:endParaRPr lang="en-IN" dirty="0"/>
          </a:p>
        </p:txBody>
      </p:sp>
      <p:pic>
        <p:nvPicPr>
          <p:cNvPr id="5" name="Picture 4">
            <a:extLst>
              <a:ext uri="{FF2B5EF4-FFF2-40B4-BE49-F238E27FC236}">
                <a16:creationId xmlns:a16="http://schemas.microsoft.com/office/drawing/2014/main" id="{6DA098A9-1093-4B01-811F-34AD0449F7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0561" y="1770286"/>
            <a:ext cx="6138482" cy="3661986"/>
          </a:xfrm>
          <a:prstGeom prst="rect">
            <a:avLst/>
          </a:prstGeom>
        </p:spPr>
      </p:pic>
      <p:sp>
        <p:nvSpPr>
          <p:cNvPr id="6" name="TextBox 5">
            <a:extLst>
              <a:ext uri="{FF2B5EF4-FFF2-40B4-BE49-F238E27FC236}">
                <a16:creationId xmlns:a16="http://schemas.microsoft.com/office/drawing/2014/main" id="{60DB3015-E113-4042-B56D-4A34C462F005}"/>
              </a:ext>
            </a:extLst>
          </p:cNvPr>
          <p:cNvSpPr txBox="1"/>
          <p:nvPr/>
        </p:nvSpPr>
        <p:spPr>
          <a:xfrm>
            <a:off x="2271581" y="5587664"/>
            <a:ext cx="8565165" cy="923330"/>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Top 15 Features</a:t>
            </a:r>
          </a:p>
          <a:p>
            <a:r>
              <a:rPr lang="en-US" dirty="0">
                <a:latin typeface="Times New Roman" panose="02020603050405020304" pitchFamily="18" charset="0"/>
                <a:cs typeface="Times New Roman" panose="02020603050405020304" pitchFamily="18" charset="0"/>
              </a:rPr>
              <a:t>Selected the most relevant HR features to optimize model performance and interpretability</a:t>
            </a:r>
          </a:p>
          <a:p>
            <a:endParaRPr lang="en-IN" dirty="0"/>
          </a:p>
        </p:txBody>
      </p:sp>
    </p:spTree>
    <p:extLst>
      <p:ext uri="{BB962C8B-B14F-4D97-AF65-F5344CB8AC3E}">
        <p14:creationId xmlns:p14="http://schemas.microsoft.com/office/powerpoint/2010/main" val="8461191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37ABD-CBD4-43EB-8AB7-86E557D7E246}"/>
              </a:ext>
            </a:extLst>
          </p:cNvPr>
          <p:cNvSpPr>
            <a:spLocks noGrp="1"/>
          </p:cNvSpPr>
          <p:nvPr>
            <p:ph type="title"/>
          </p:nvPr>
        </p:nvSpPr>
        <p:spPr>
          <a:xfrm>
            <a:off x="2115847" y="677119"/>
            <a:ext cx="8911687" cy="860133"/>
          </a:xfrm>
        </p:spPr>
        <p:txBody>
          <a:bodyPr>
            <a:normAutofit fontScale="90000"/>
          </a:bodyPr>
          <a:lstStyle/>
          <a:p>
            <a:r>
              <a:rPr lang="en-IN" b="1" dirty="0">
                <a:latin typeface="Times New Roman" panose="02020603050405020304" pitchFamily="18" charset="0"/>
                <a:cs typeface="Times New Roman" panose="02020603050405020304" pitchFamily="18" charset="0"/>
              </a:rPr>
              <a:t>Model Performance &amp; Comparison</a:t>
            </a: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88E2A38-4C2E-4A70-A5D7-E62B45805B00}"/>
              </a:ext>
            </a:extLst>
          </p:cNvPr>
          <p:cNvSpPr>
            <a:spLocks noGrp="1"/>
          </p:cNvSpPr>
          <p:nvPr>
            <p:ph idx="1"/>
          </p:nvPr>
        </p:nvSpPr>
        <p:spPr>
          <a:xfrm>
            <a:off x="2112134" y="1540189"/>
            <a:ext cx="8915400" cy="3777622"/>
          </a:xfrm>
        </p:spPr>
        <p:txBody>
          <a:bodyPr/>
          <a:lstStyle/>
          <a:p>
            <a:r>
              <a:rPr lang="en-US" dirty="0">
                <a:latin typeface="Times New Roman" panose="02020603050405020304" pitchFamily="18" charset="0"/>
                <a:cs typeface="Times New Roman" panose="02020603050405020304" pitchFamily="18" charset="0"/>
              </a:rPr>
              <a:t>Three models were trained and evaluated on the IBM HR dataset. </a:t>
            </a:r>
            <a:r>
              <a:rPr lang="en-US" b="1" dirty="0" err="1">
                <a:latin typeface="Times New Roman" panose="02020603050405020304" pitchFamily="18" charset="0"/>
                <a:cs typeface="Times New Roman" panose="02020603050405020304" pitchFamily="18" charset="0"/>
              </a:rPr>
              <a:t>XGBoost</a:t>
            </a:r>
            <a:r>
              <a:rPr lang="en-US" b="1" dirty="0">
                <a:latin typeface="Times New Roman" panose="02020603050405020304" pitchFamily="18" charset="0"/>
                <a:cs typeface="Times New Roman" panose="02020603050405020304" pitchFamily="18" charset="0"/>
              </a:rPr>
              <a:t> achieved the best overall performance</a:t>
            </a:r>
            <a:r>
              <a:rPr lang="en-US" dirty="0">
                <a:latin typeface="Times New Roman" panose="02020603050405020304" pitchFamily="18" charset="0"/>
                <a:cs typeface="Times New Roman" panose="02020603050405020304" pitchFamily="18" charset="0"/>
              </a:rPr>
              <a:t> with approximately </a:t>
            </a:r>
            <a:r>
              <a:rPr lang="en-US" b="1" dirty="0">
                <a:latin typeface="Times New Roman" panose="02020603050405020304" pitchFamily="18" charset="0"/>
                <a:cs typeface="Times New Roman" panose="02020603050405020304" pitchFamily="18" charset="0"/>
              </a:rPr>
              <a:t>84% accuracy</a:t>
            </a:r>
            <a:r>
              <a:rPr lang="en-US" dirty="0">
                <a:latin typeface="Times New Roman" panose="02020603050405020304" pitchFamily="18" charset="0"/>
                <a:cs typeface="Times New Roman" panose="02020603050405020304" pitchFamily="18" charset="0"/>
              </a:rPr>
              <a:t>. Due to class imbalance (84% retention, 16% attrition), </a:t>
            </a:r>
            <a:r>
              <a:rPr lang="en-US" b="1" dirty="0">
                <a:latin typeface="Times New Roman" panose="02020603050405020304" pitchFamily="18" charset="0"/>
                <a:cs typeface="Times New Roman" panose="02020603050405020304" pitchFamily="18" charset="0"/>
              </a:rPr>
              <a:t>Recall and F1-Score were prioritized</a:t>
            </a:r>
            <a:r>
              <a:rPr lang="en-US" dirty="0">
                <a:latin typeface="Times New Roman" panose="02020603050405020304" pitchFamily="18" charset="0"/>
                <a:cs typeface="Times New Roman" panose="02020603050405020304" pitchFamily="18" charset="0"/>
              </a:rPr>
              <a:t> to minimize false negatives — missing an employee who will leave is far costlier than a false alarm</a:t>
            </a:r>
          </a:p>
          <a:p>
            <a:endParaRPr lang="en-IN" dirty="0"/>
          </a:p>
        </p:txBody>
      </p:sp>
      <p:pic>
        <p:nvPicPr>
          <p:cNvPr id="5" name="Picture 4">
            <a:extLst>
              <a:ext uri="{FF2B5EF4-FFF2-40B4-BE49-F238E27FC236}">
                <a16:creationId xmlns:a16="http://schemas.microsoft.com/office/drawing/2014/main" id="{60B8CBA0-6BBE-4C17-9440-7D4D7FDF85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07410" y="3073794"/>
            <a:ext cx="8325044" cy="1922276"/>
          </a:xfrm>
          <a:prstGeom prst="rect">
            <a:avLst/>
          </a:prstGeom>
        </p:spPr>
      </p:pic>
    </p:spTree>
    <p:extLst>
      <p:ext uri="{BB962C8B-B14F-4D97-AF65-F5344CB8AC3E}">
        <p14:creationId xmlns:p14="http://schemas.microsoft.com/office/powerpoint/2010/main" val="30909227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D8667AA-D867-4B2F-B6AB-E2356917B71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13440" y="1497496"/>
            <a:ext cx="11240021" cy="4200939"/>
          </a:xfrm>
        </p:spPr>
      </p:pic>
    </p:spTree>
    <p:extLst>
      <p:ext uri="{BB962C8B-B14F-4D97-AF65-F5344CB8AC3E}">
        <p14:creationId xmlns:p14="http://schemas.microsoft.com/office/powerpoint/2010/main" val="1632250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EFFD0-3608-4C66-A2E6-A2E9179EC2BD}"/>
              </a:ext>
            </a:extLst>
          </p:cNvPr>
          <p:cNvSpPr>
            <a:spLocks noGrp="1"/>
          </p:cNvSpPr>
          <p:nvPr>
            <p:ph type="title"/>
          </p:nvPr>
        </p:nvSpPr>
        <p:spPr>
          <a:xfrm>
            <a:off x="2062839" y="716876"/>
            <a:ext cx="8911687" cy="754116"/>
          </a:xfrm>
        </p:spPr>
        <p:txBody>
          <a:bodyPr>
            <a:normAutofit fontScale="90000"/>
          </a:bodyPr>
          <a:lstStyle/>
          <a:p>
            <a:r>
              <a:rPr lang="en-IN" b="1" dirty="0">
                <a:latin typeface="Times New Roman" panose="02020603050405020304" pitchFamily="18" charset="0"/>
                <a:cs typeface="Times New Roman" panose="02020603050405020304" pitchFamily="18" charset="0"/>
              </a:rPr>
              <a:t>Explainable AI — SHAP Values</a:t>
            </a: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BF6E078-777B-4591-9AE4-4164FF01F035}"/>
              </a:ext>
            </a:extLst>
          </p:cNvPr>
          <p:cNvSpPr>
            <a:spLocks noGrp="1"/>
          </p:cNvSpPr>
          <p:nvPr>
            <p:ph idx="1"/>
          </p:nvPr>
        </p:nvSpPr>
        <p:spPr>
          <a:xfrm>
            <a:off x="1860342" y="1683027"/>
            <a:ext cx="8915400" cy="4293704"/>
          </a:xfrm>
        </p:spPr>
        <p:txBody>
          <a:bodyPr>
            <a:normAutofit fontScale="85000" lnSpcReduction="20000"/>
          </a:bodyPr>
          <a:lstStyle/>
          <a:p>
            <a:r>
              <a:rPr lang="en-US" b="1" dirty="0">
                <a:latin typeface="Times New Roman" panose="02020603050405020304" pitchFamily="18" charset="0"/>
                <a:cs typeface="Times New Roman" panose="02020603050405020304" pitchFamily="18" charset="0"/>
              </a:rPr>
              <a:t>What is SHAP?</a:t>
            </a:r>
          </a:p>
          <a:p>
            <a:pPr marL="0" indent="0">
              <a:buNone/>
            </a:pPr>
            <a:r>
              <a:rPr lang="en-US" b="1" dirty="0">
                <a:latin typeface="Times New Roman" panose="02020603050405020304" pitchFamily="18" charset="0"/>
                <a:cs typeface="Times New Roman" panose="02020603050405020304" pitchFamily="18" charset="0"/>
              </a:rPr>
              <a:t>	SHAP (</a:t>
            </a:r>
            <a:r>
              <a:rPr lang="en-US" b="1" dirty="0" err="1">
                <a:latin typeface="Times New Roman" panose="02020603050405020304" pitchFamily="18" charset="0"/>
                <a:cs typeface="Times New Roman" panose="02020603050405020304" pitchFamily="18" charset="0"/>
              </a:rPr>
              <a:t>SHapley</a:t>
            </a:r>
            <a:r>
              <a:rPr lang="en-US" b="1" dirty="0">
                <a:latin typeface="Times New Roman" panose="02020603050405020304" pitchFamily="18" charset="0"/>
                <a:cs typeface="Times New Roman" panose="02020603050405020304" pitchFamily="18" charset="0"/>
              </a:rPr>
              <a:t> Additive </a:t>
            </a:r>
            <a:r>
              <a:rPr lang="en-US" b="1" dirty="0" err="1">
                <a:latin typeface="Times New Roman" panose="02020603050405020304" pitchFamily="18" charset="0"/>
                <a:cs typeface="Times New Roman" panose="02020603050405020304" pitchFamily="18" charset="0"/>
              </a:rPr>
              <a:t>exPlanations</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was used for model interpretability. The system doesn't just predict — it explains </a:t>
            </a:r>
            <a:r>
              <a:rPr lang="en-US" b="1" dirty="0">
                <a:latin typeface="Times New Roman" panose="02020603050405020304" pitchFamily="18" charset="0"/>
                <a:cs typeface="Times New Roman" panose="02020603050405020304" pitchFamily="18" charset="0"/>
              </a:rPr>
              <a:t>why</a:t>
            </a:r>
            <a:r>
              <a:rPr lang="en-US" dirty="0">
                <a:latin typeface="Times New Roman" panose="02020603050405020304" pitchFamily="18" charset="0"/>
                <a:cs typeface="Times New Roman" panose="02020603050405020304" pitchFamily="18" charset="0"/>
              </a:rPr>
              <a:t> an employee is at risk of leaving, making the model transparent and actionable for HR decision-makers.</a:t>
            </a:r>
          </a:p>
          <a:p>
            <a:r>
              <a:rPr lang="en-US" b="1" dirty="0">
                <a:latin typeface="Times New Roman" panose="02020603050405020304" pitchFamily="18" charset="0"/>
                <a:cs typeface="Times New Roman" panose="02020603050405020304" pitchFamily="18" charset="0"/>
              </a:rPr>
              <a:t>SHAP Feature Contribution</a:t>
            </a:r>
          </a:p>
          <a:p>
            <a:pPr marL="0" indent="0">
              <a:buNone/>
            </a:pPr>
            <a:r>
              <a:rPr lang="en-US" dirty="0">
                <a:latin typeface="Times New Roman" panose="02020603050405020304" pitchFamily="18" charset="0"/>
                <a:cs typeface="Times New Roman" panose="02020603050405020304" pitchFamily="18" charset="0"/>
              </a:rPr>
              <a:t>	Higher SHAP values indicate stronger influence on the model's attrition prediction for each feature.</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Overtime</a:t>
            </a:r>
          </a:p>
          <a:p>
            <a:pPr marL="0" indent="0">
              <a:buNone/>
            </a:pPr>
            <a:r>
              <a:rPr lang="en-US" dirty="0">
                <a:latin typeface="Times New Roman" panose="02020603050405020304" pitchFamily="18" charset="0"/>
                <a:cs typeface="Times New Roman" panose="02020603050405020304" pitchFamily="18" charset="0"/>
              </a:rPr>
              <a:t>Highest attrition risk factor — employees working overtime are significantly more likely to resign.</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Low Monthly Income</a:t>
            </a:r>
          </a:p>
          <a:p>
            <a:pPr marL="0" indent="0">
              <a:buNone/>
            </a:pPr>
            <a:r>
              <a:rPr lang="en-US" dirty="0">
                <a:latin typeface="Times New Roman" panose="02020603050405020304" pitchFamily="18" charset="0"/>
                <a:cs typeface="Times New Roman" panose="02020603050405020304" pitchFamily="18" charset="0"/>
              </a:rPr>
              <a:t>Below-market compensation is a strong predictor of employee departure.</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Lower Job Level</a:t>
            </a:r>
          </a:p>
          <a:p>
            <a:pPr marL="0" indent="0">
              <a:buNone/>
            </a:pPr>
            <a:r>
              <a:rPr lang="en-US" dirty="0">
                <a:latin typeface="Times New Roman" panose="02020603050405020304" pitchFamily="18" charset="0"/>
                <a:cs typeface="Times New Roman" panose="02020603050405020304" pitchFamily="18" charset="0"/>
              </a:rPr>
              <a:t>Junior-level employees show higher attrition rates, often due to career growth concerns.</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Poor Work-Life Balance</a:t>
            </a:r>
          </a:p>
          <a:p>
            <a:pPr marL="0" indent="0">
              <a:buNone/>
            </a:pPr>
            <a:r>
              <a:rPr lang="en-US" dirty="0">
                <a:latin typeface="Times New Roman" panose="02020603050405020304" pitchFamily="18" charset="0"/>
                <a:cs typeface="Times New Roman" panose="02020603050405020304" pitchFamily="18" charset="0"/>
              </a:rPr>
              <a:t>Employees reporting poor balance are at elevated risk of voluntary turnover.</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71580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2E1FD-85E5-4A68-8942-1DDC73355C3C}"/>
              </a:ext>
            </a:extLst>
          </p:cNvPr>
          <p:cNvSpPr>
            <a:spLocks noGrp="1"/>
          </p:cNvSpPr>
          <p:nvPr>
            <p:ph type="title"/>
          </p:nvPr>
        </p:nvSpPr>
        <p:spPr>
          <a:xfrm>
            <a:off x="2014331" y="624110"/>
            <a:ext cx="9490282" cy="966151"/>
          </a:xfrm>
        </p:spPr>
        <p:txBody>
          <a:bodyPr>
            <a:normAutofit fontScale="90000"/>
          </a:bodyPr>
          <a:lstStyle/>
          <a:p>
            <a:r>
              <a:rPr lang="en-US" b="1" dirty="0">
                <a:latin typeface="Times New Roman" panose="02020603050405020304" pitchFamily="18" charset="0"/>
                <a:cs typeface="Times New Roman" panose="02020603050405020304" pitchFamily="18" charset="0"/>
              </a:rPr>
              <a:t>SHAP Summary Plot: Key Factors Influencing Employee Attrition</a:t>
            </a:r>
            <a:endParaRPr lang="en-IN" b="1"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D085F0D5-EE7C-4BD9-BC88-58937D5BF4A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43200" y="2011271"/>
            <a:ext cx="7332233" cy="4222619"/>
          </a:xfrm>
        </p:spPr>
      </p:pic>
    </p:spTree>
    <p:extLst>
      <p:ext uri="{BB962C8B-B14F-4D97-AF65-F5344CB8AC3E}">
        <p14:creationId xmlns:p14="http://schemas.microsoft.com/office/powerpoint/2010/main" val="32578442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FC7F5-FC11-47E7-98CE-A20A51E686E6}"/>
              </a:ext>
            </a:extLst>
          </p:cNvPr>
          <p:cNvSpPr>
            <a:spLocks noGrp="1"/>
          </p:cNvSpPr>
          <p:nvPr>
            <p:ph type="title"/>
          </p:nvPr>
        </p:nvSpPr>
        <p:spPr>
          <a:xfrm>
            <a:off x="1934817" y="624110"/>
            <a:ext cx="9569795" cy="793873"/>
          </a:xfrm>
        </p:spPr>
        <p:txBody>
          <a:bodyPr>
            <a:normAutofit fontScale="90000"/>
          </a:bodyPr>
          <a:lstStyle/>
          <a:p>
            <a:r>
              <a:rPr lang="en-US" b="1" dirty="0">
                <a:latin typeface="Times New Roman" panose="02020603050405020304" pitchFamily="18" charset="0"/>
                <a:cs typeface="Times New Roman" panose="02020603050405020304" pitchFamily="18" charset="0"/>
              </a:rPr>
              <a:t>Real-Time Employee Attrition Prediction Dashboard</a:t>
            </a:r>
            <a:br>
              <a:rPr lang="en-US"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D34D78A-A81A-4DC7-B313-7D56CEFA0C9A}"/>
              </a:ext>
            </a:extLst>
          </p:cNvPr>
          <p:cNvSpPr>
            <a:spLocks noGrp="1"/>
          </p:cNvSpPr>
          <p:nvPr>
            <p:ph idx="1"/>
          </p:nvPr>
        </p:nvSpPr>
        <p:spPr>
          <a:xfrm>
            <a:off x="1934817" y="1540189"/>
            <a:ext cx="8915400" cy="1017481"/>
          </a:xfrm>
        </p:spPr>
        <p:txBody>
          <a:bodyPr/>
          <a:lstStyle/>
          <a:p>
            <a:r>
              <a:rPr lang="en-US" dirty="0">
                <a:latin typeface="Times New Roman" panose="02020603050405020304" pitchFamily="18" charset="0"/>
                <a:cs typeface="Times New Roman" panose="02020603050405020304" pitchFamily="18" charset="0"/>
              </a:rPr>
              <a:t>The trained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model was deployed using </a:t>
            </a:r>
            <a:r>
              <a:rPr lang="en-US" b="1" dirty="0" err="1">
                <a:latin typeface="Times New Roman" panose="02020603050405020304" pitchFamily="18" charset="0"/>
                <a:cs typeface="Times New Roman" panose="02020603050405020304" pitchFamily="18" charset="0"/>
              </a:rPr>
              <a:t>Streamlit</a:t>
            </a:r>
            <a:r>
              <a:rPr lang="en-US" b="1" dirty="0">
                <a:latin typeface="Times New Roman" panose="02020603050405020304" pitchFamily="18" charset="0"/>
                <a:cs typeface="Times New Roman" panose="02020603050405020304" pitchFamily="18" charset="0"/>
              </a:rPr>
              <a:t> Cloud</a:t>
            </a:r>
            <a:r>
              <a:rPr lang="en-US" dirty="0">
                <a:latin typeface="Times New Roman" panose="02020603050405020304" pitchFamily="18" charset="0"/>
                <a:cs typeface="Times New Roman" panose="02020603050405020304" pitchFamily="18" charset="0"/>
              </a:rPr>
              <a:t>, enabling HR professionals and managers to input employee details and instantly receive attrition risk predictions with probability-based assess</a:t>
            </a:r>
          </a:p>
          <a:p>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3DB3B46-E60C-48F8-94E8-3B238C374F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2013" y="2557670"/>
            <a:ext cx="8915401" cy="4131368"/>
          </a:xfrm>
          <a:prstGeom prst="rect">
            <a:avLst/>
          </a:prstGeom>
        </p:spPr>
      </p:pic>
    </p:spTree>
    <p:extLst>
      <p:ext uri="{BB962C8B-B14F-4D97-AF65-F5344CB8AC3E}">
        <p14:creationId xmlns:p14="http://schemas.microsoft.com/office/powerpoint/2010/main" val="8458286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D03B61D-143E-4129-A317-CDE1E864827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94015" y="306850"/>
            <a:ext cx="6940455" cy="3200546"/>
          </a:xfrm>
        </p:spPr>
      </p:pic>
      <p:pic>
        <p:nvPicPr>
          <p:cNvPr id="7" name="Picture 6">
            <a:extLst>
              <a:ext uri="{FF2B5EF4-FFF2-40B4-BE49-F238E27FC236}">
                <a16:creationId xmlns:a16="http://schemas.microsoft.com/office/drawing/2014/main" id="{1E9AAC3A-776E-4999-BD4F-2922E817CE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81600" y="3538794"/>
            <a:ext cx="6798365" cy="3205086"/>
          </a:xfrm>
          <a:prstGeom prst="rect">
            <a:avLst/>
          </a:prstGeom>
        </p:spPr>
      </p:pic>
    </p:spTree>
    <p:extLst>
      <p:ext uri="{BB962C8B-B14F-4D97-AF65-F5344CB8AC3E}">
        <p14:creationId xmlns:p14="http://schemas.microsoft.com/office/powerpoint/2010/main" val="10668034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1D45420E-F6E1-4A27-8C04-2425353D089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91652" y="225286"/>
            <a:ext cx="6937345" cy="3104260"/>
          </a:xfrm>
        </p:spPr>
      </p:pic>
      <p:pic>
        <p:nvPicPr>
          <p:cNvPr id="13" name="Picture 12">
            <a:extLst>
              <a:ext uri="{FF2B5EF4-FFF2-40B4-BE49-F238E27FC236}">
                <a16:creationId xmlns:a16="http://schemas.microsoft.com/office/drawing/2014/main" id="{D0CBE6FA-6A28-4A61-9AB9-8B73F20BD1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76800" y="3354458"/>
            <a:ext cx="7213298" cy="3390145"/>
          </a:xfrm>
          <a:prstGeom prst="rect">
            <a:avLst/>
          </a:prstGeom>
        </p:spPr>
      </p:pic>
    </p:spTree>
    <p:extLst>
      <p:ext uri="{BB962C8B-B14F-4D97-AF65-F5344CB8AC3E}">
        <p14:creationId xmlns:p14="http://schemas.microsoft.com/office/powerpoint/2010/main" val="33415240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6E4F5-1F32-493E-B9A2-292C6FA8886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Conclusion &amp; Future Work</a:t>
            </a:r>
            <a:endParaRPr lang="en-IN"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A13D693B-E2BF-4078-8044-8033BD4D0BAD}"/>
              </a:ext>
            </a:extLst>
          </p:cNvPr>
          <p:cNvSpPr>
            <a:spLocks noGrp="1"/>
          </p:cNvSpPr>
          <p:nvPr>
            <p:ph sz="half" idx="1"/>
          </p:nvPr>
        </p:nvSpPr>
        <p:spPr>
          <a:xfrm>
            <a:off x="2014330" y="1457740"/>
            <a:ext cx="4863548" cy="4081670"/>
          </a:xfrm>
        </p:spPr>
        <p:txBody>
          <a:bodyPr>
            <a:normAutofit/>
          </a:bodyPr>
          <a:lstStyle/>
          <a:p>
            <a:r>
              <a:rPr lang="en-US" b="1" dirty="0">
                <a:latin typeface="Times New Roman" panose="02020603050405020304" pitchFamily="18" charset="0"/>
                <a:cs typeface="Times New Roman" panose="02020603050405020304" pitchFamily="18" charset="0"/>
              </a:rPr>
              <a:t>Proactive Retention</a:t>
            </a:r>
          </a:p>
          <a:p>
            <a:pPr marL="0" indent="0">
              <a:buNone/>
            </a:pPr>
            <a:r>
              <a:rPr lang="en-US" dirty="0">
                <a:latin typeface="Times New Roman" panose="02020603050405020304" pitchFamily="18" charset="0"/>
                <a:cs typeface="Times New Roman" panose="02020603050405020304" pitchFamily="18" charset="0"/>
              </a:rPr>
              <a:t>Machine learning enables HR teams to shift from reactive to proactive employee retention strategies.</a:t>
            </a:r>
          </a:p>
          <a:p>
            <a:r>
              <a:rPr lang="en-US" b="1" dirty="0">
                <a:latin typeface="Times New Roman" panose="02020603050405020304" pitchFamily="18" charset="0"/>
                <a:cs typeface="Times New Roman" panose="02020603050405020304" pitchFamily="18" charset="0"/>
              </a:rPr>
              <a:t>High Accuracy</a:t>
            </a:r>
          </a:p>
          <a:p>
            <a:pPr marL="0" indent="0">
              <a:buNone/>
            </a:pPr>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model successfully predicts attrition with ~84% accuracy using interpretable SHAP explanations.</a:t>
            </a:r>
          </a:p>
          <a:p>
            <a:r>
              <a:rPr lang="en-US" b="1" dirty="0">
                <a:latin typeface="Times New Roman" panose="02020603050405020304" pitchFamily="18" charset="0"/>
                <a:cs typeface="Times New Roman" panose="02020603050405020304" pitchFamily="18" charset="0"/>
              </a:rPr>
              <a:t>Better Decisions</a:t>
            </a:r>
          </a:p>
          <a:p>
            <a:pPr marL="0" indent="0">
              <a:buNone/>
            </a:pPr>
            <a:r>
              <a:rPr lang="en-US" dirty="0">
                <a:latin typeface="Times New Roman" panose="02020603050405020304" pitchFamily="18" charset="0"/>
                <a:cs typeface="Times New Roman" panose="02020603050405020304" pitchFamily="18" charset="0"/>
              </a:rPr>
              <a:t>HR analytics can improve workforce decision-making and significantly reduce organizational loss</a:t>
            </a:r>
          </a:p>
          <a:p>
            <a:endParaRPr lang="en-IN"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C303E38B-0579-4763-80BA-9DF8C64FD1FE}"/>
              </a:ext>
            </a:extLst>
          </p:cNvPr>
          <p:cNvSpPr>
            <a:spLocks noGrp="1"/>
          </p:cNvSpPr>
          <p:nvPr>
            <p:ph sz="half" idx="2"/>
          </p:nvPr>
        </p:nvSpPr>
        <p:spPr>
          <a:xfrm>
            <a:off x="7063409" y="1457740"/>
            <a:ext cx="4441202" cy="4081670"/>
          </a:xfrm>
        </p:spPr>
        <p:txBody>
          <a:bodyPr>
            <a:normAutofit/>
          </a:bodyPr>
          <a:lstStyle/>
          <a:p>
            <a:r>
              <a:rPr lang="en-IN" b="1" dirty="0">
                <a:latin typeface="Times New Roman" panose="02020603050405020304" pitchFamily="18" charset="0"/>
                <a:cs typeface="Times New Roman" panose="02020603050405020304" pitchFamily="18" charset="0"/>
              </a:rPr>
              <a:t>⚠️ Limitations</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Small dataset size (1,470 records)</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Moderate class imbalance (84% / 16%)</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Synthetic HR dataset limitations</a:t>
            </a:r>
          </a:p>
          <a:p>
            <a:r>
              <a:rPr lang="en-IN" b="1" dirty="0">
                <a:latin typeface="Times New Roman" panose="02020603050405020304" pitchFamily="18" charset="0"/>
                <a:cs typeface="Times New Roman" panose="02020603050405020304" pitchFamily="18" charset="0"/>
              </a:rPr>
              <a:t>🚀 Future Work</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Real-time HR analytics integration</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Employee sentiment analysis</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Deep learning implementation</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"What-if" financial retention simulations</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Explainable AI dashboards for HR teams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6809376"/>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103</TotalTime>
  <Words>581</Words>
  <Application>Microsoft Office PowerPoint</Application>
  <PresentationFormat>Widescreen</PresentationFormat>
  <Paragraphs>77</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Century Gothic</vt:lpstr>
      <vt:lpstr>Times New Roman</vt:lpstr>
      <vt:lpstr>Wingdings</vt:lpstr>
      <vt:lpstr>Wingdings 3</vt:lpstr>
      <vt:lpstr>Wisp</vt:lpstr>
      <vt:lpstr>Employee Attrition Prediction System </vt:lpstr>
      <vt:lpstr>Problem Statement</vt:lpstr>
      <vt:lpstr>Dataset Overview — IBM HR Analytics</vt:lpstr>
      <vt:lpstr>PowerPoint Presentation</vt:lpstr>
      <vt:lpstr>Methodology &amp; Machine Learning Pipeline </vt:lpstr>
      <vt:lpstr>Feature Engineering &amp; Statistical Selection </vt:lpstr>
      <vt:lpstr>PowerPoint Presentation</vt:lpstr>
      <vt:lpstr>Model Performance &amp; Comparison </vt:lpstr>
      <vt:lpstr>PowerPoint Presentation</vt:lpstr>
      <vt:lpstr>Explainable AI — SHAP Values </vt:lpstr>
      <vt:lpstr>SHAP Summary Plot: Key Factors Influencing Employee Attrition</vt:lpstr>
      <vt:lpstr>Real-Time Employee Attrition Prediction Dashboard </vt:lpstr>
      <vt:lpstr>PowerPoint Presentation</vt:lpstr>
      <vt:lpstr>PowerPoint Presentation</vt:lpstr>
      <vt:lpstr>Conclusion &amp; Future 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Employee Attrition Prediction System</dc:title>
  <dc:creator>DELL</dc:creator>
  <cp:lastModifiedBy>DELL</cp:lastModifiedBy>
  <cp:revision>10</cp:revision>
  <dcterms:created xsi:type="dcterms:W3CDTF">2026-05-10T16:10:47Z</dcterms:created>
  <dcterms:modified xsi:type="dcterms:W3CDTF">2026-05-10T17:54:24Z</dcterms:modified>
</cp:coreProperties>
</file>